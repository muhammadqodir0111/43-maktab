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686800" y="-1280160"/>
            <a:ext cx="4937760" cy="4937760"/>
          </a:xfrm>
          <a:prstGeom prst="ellipse">
            <a:avLst/>
          </a:prstGeom>
          <a:solidFill>
            <a:srgbClr val="2A2F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875520" y="3291840"/>
            <a:ext cx="4206240" cy="4206240"/>
          </a:xfrm>
          <a:prstGeom prst="ellipse">
            <a:avLst/>
          </a:prstGeom>
          <a:solidFill>
            <a:srgbClr val="242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8680" y="1874519"/>
            <a:ext cx="146304" cy="169164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4440" y="1691640"/>
            <a:ext cx="86868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600" b="1" i="0">
                <a:solidFill>
                  <a:srgbClr val="FFFFFF"/>
                </a:solidFill>
                <a:latin typeface="Arial"/>
              </a:rPr>
              <a:t>Maktab CRM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61872" y="2880360"/>
            <a:ext cx="96012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C3C9DF"/>
                </a:solidFill>
                <a:latin typeface="Arial"/>
              </a:rPr>
              <a:t>Maktabingiz uchun zamonaviy elektron jurnal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9AA2C0"/>
                </a:solidFill>
                <a:latin typeface="Arial"/>
              </a:rPr>
              <a:t>Baholar · Davomat · Uyga vazifa · Jadval · E'lonlar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61872" y="4160520"/>
            <a:ext cx="4352544" cy="475488"/>
          </a:xfrm>
          <a:prstGeom prst="roundRect">
            <a:avLst>
              <a:gd name="adj" fmla="val 50000"/>
            </a:avLst>
          </a:prstGeom>
          <a:solidFill>
            <a:srgbClr val="2E34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O'zbek tilida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43016" y="4160520"/>
            <a:ext cx="2889504" cy="475488"/>
          </a:xfrm>
          <a:prstGeom prst="roundRect">
            <a:avLst>
              <a:gd name="adj" fmla="val 50000"/>
            </a:avLst>
          </a:prstGeom>
          <a:solidFill>
            <a:srgbClr val="2E34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4 ta rol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0" y="4160520"/>
            <a:ext cx="5522976" cy="475488"/>
          </a:xfrm>
          <a:prstGeom prst="roundRect">
            <a:avLst>
              <a:gd name="adj" fmla="val 50000"/>
            </a:avLst>
          </a:prstGeom>
          <a:solidFill>
            <a:srgbClr val="2E34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Tez ishga tushadi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61872" y="5943600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E86A8"/>
                </a:solidFill>
                <a:latin typeface="Arial"/>
              </a:rPr>
              <a:t>Sotuv taqdimoti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502920"/>
            <a:ext cx="118872" cy="50292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384048"/>
            <a:ext cx="95097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F2430"/>
                </a:solidFill>
                <a:latin typeface="Arial"/>
              </a:rPr>
              <a:t>Muammo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411480"/>
            <a:ext cx="822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6B7280"/>
                </a:solidFill>
                <a:latin typeface="Arial"/>
              </a:rPr>
              <a:t>2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161288"/>
            <a:ext cx="10908792" cy="16459"/>
          </a:xfrm>
          <a:prstGeom prst="rect">
            <a:avLst/>
          </a:prstGeom>
          <a:solidFill>
            <a:srgbClr val="E0E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B7280"/>
                </a:solidFill>
                <a:latin typeface="Arial"/>
              </a:rPr>
              <a:t>Maktab CRM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6419088"/>
            <a:ext cx="12161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B7280"/>
                </a:solidFill>
                <a:latin typeface="Arial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508760"/>
            <a:ext cx="10424160" cy="4663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900" b="1" i="0">
                <a:solidFill>
                  <a:srgbClr val="4F46E5"/>
                </a:solidFill>
                <a:latin typeface="Arial"/>
              </a:rPr>
              <a:t>•  </a:t>
            </a:r>
            <a:r>
              <a:rPr sz="1900" b="0" i="0">
                <a:solidFill>
                  <a:srgbClr val="1F2430"/>
                </a:solidFill>
                <a:latin typeface="Arial"/>
              </a:rPr>
              <a:t>Qog'oz jurnal yo'qoladi, baholar kech kiritiladi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900" b="1" i="0">
                <a:solidFill>
                  <a:srgbClr val="4F46E5"/>
                </a:solidFill>
                <a:latin typeface="Arial"/>
              </a:rPr>
              <a:t>•  </a:t>
            </a:r>
            <a:r>
              <a:rPr sz="1900" b="0" i="0">
                <a:solidFill>
                  <a:srgbClr val="1F2430"/>
                </a:solidFill>
                <a:latin typeface="Arial"/>
              </a:rPr>
              <a:t>Ota-ona farzandining bahosi va davomatidan xabardor emas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900" b="1" i="0">
                <a:solidFill>
                  <a:srgbClr val="4F46E5"/>
                </a:solidFill>
                <a:latin typeface="Arial"/>
              </a:rPr>
              <a:t>•  </a:t>
            </a:r>
            <a:r>
              <a:rPr sz="1900" b="0" i="0">
                <a:solidFill>
                  <a:srgbClr val="1F2430"/>
                </a:solidFill>
                <a:latin typeface="Arial"/>
              </a:rPr>
              <a:t>Chorak bahosi qo'lda hisoblanadi — xatolar ko'p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900" b="1" i="0">
                <a:solidFill>
                  <a:srgbClr val="4F46E5"/>
                </a:solidFill>
                <a:latin typeface="Arial"/>
              </a:rPr>
              <a:t>•  </a:t>
            </a:r>
            <a:r>
              <a:rPr sz="1900" b="0" i="0">
                <a:solidFill>
                  <a:srgbClr val="1F2430"/>
                </a:solidFill>
                <a:latin typeface="Arial"/>
              </a:rPr>
              <a:t>Direktor maktab ahvolini bir joyda ko'rmaydi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900" b="1" i="0">
                <a:solidFill>
                  <a:srgbClr val="4F46E5"/>
                </a:solidFill>
                <a:latin typeface="Arial"/>
              </a:rPr>
              <a:t>•  </a:t>
            </a:r>
            <a:r>
              <a:rPr sz="1900" b="0" i="0">
                <a:solidFill>
                  <a:srgbClr val="1F2430"/>
                </a:solidFill>
                <a:latin typeface="Arial"/>
              </a:rPr>
              <a:t>Uyga vazifa nazorati kuchsiz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900" b="1" i="0">
                <a:solidFill>
                  <a:srgbClr val="4F46E5"/>
                </a:solidFill>
                <a:latin typeface="Arial"/>
              </a:rPr>
              <a:t>•  </a:t>
            </a:r>
            <a:r>
              <a:rPr sz="1900" b="0" i="0">
                <a:solidFill>
                  <a:srgbClr val="1F2430"/>
                </a:solidFill>
                <a:latin typeface="Arial"/>
              </a:rPr>
              <a:t>Ma'lumot tarqoq: daftarlar, guruh chatlari, Excel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502920"/>
            <a:ext cx="118872" cy="50292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384048"/>
            <a:ext cx="95097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F2430"/>
                </a:solidFill>
                <a:latin typeface="Arial"/>
              </a:rPr>
              <a:t>Yechim: Maktab CRM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411480"/>
            <a:ext cx="822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6B7280"/>
                </a:solidFill>
                <a:latin typeface="Arial"/>
              </a:rPr>
              <a:t>3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161288"/>
            <a:ext cx="10908792" cy="16459"/>
          </a:xfrm>
          <a:prstGeom prst="rect">
            <a:avLst/>
          </a:prstGeom>
          <a:solidFill>
            <a:srgbClr val="E0E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B7280"/>
                </a:solidFill>
                <a:latin typeface="Arial"/>
              </a:rPr>
              <a:t>Maktab CRM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6419088"/>
            <a:ext cx="12161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B7280"/>
                </a:solidFill>
                <a:latin typeface="Arial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46304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F2430"/>
                </a:solidFill>
                <a:latin typeface="Arial"/>
              </a:rPr>
              <a:t>Bitta tizimda: jurnal + davomat + uyga vazifa + jadval + e'lonlar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286000"/>
            <a:ext cx="10424160" cy="4663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900" b="1" i="0">
                <a:solidFill>
                  <a:srgbClr val="16A34A"/>
                </a:solidFill>
                <a:latin typeface="Arial"/>
              </a:rPr>
              <a:t>+ </a:t>
            </a:r>
            <a:r>
              <a:rPr sz="1900" b="1" i="0">
                <a:solidFill>
                  <a:srgbClr val="1F2430"/>
                </a:solidFill>
                <a:latin typeface="Arial"/>
              </a:rPr>
              <a:t>Har kim o'z roli bilan kiradi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900" b="1" i="0">
                <a:solidFill>
                  <a:srgbClr val="16A34A"/>
                </a:solidFill>
                <a:latin typeface="Arial"/>
              </a:rPr>
              <a:t>+ </a:t>
            </a:r>
            <a:r>
              <a:rPr sz="1900" b="1" i="0">
                <a:solidFill>
                  <a:srgbClr val="1F2430"/>
                </a:solidFill>
                <a:latin typeface="Arial"/>
              </a:rPr>
              <a:t>Ma'lumot real vaqtda yangilanadi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900" b="1" i="0">
                <a:solidFill>
                  <a:srgbClr val="16A34A"/>
                </a:solidFill>
                <a:latin typeface="Arial"/>
              </a:rPr>
              <a:t>+ </a:t>
            </a:r>
            <a:r>
              <a:rPr sz="1900" b="1" i="0">
                <a:solidFill>
                  <a:srgbClr val="1F2430"/>
                </a:solidFill>
                <a:latin typeface="Arial"/>
              </a:rPr>
              <a:t>Maktab o'z serverida saqlaydi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900" b="1" i="0">
                <a:solidFill>
                  <a:srgbClr val="16A34A"/>
                </a:solidFill>
                <a:latin typeface="Arial"/>
              </a:rPr>
              <a:t>+ </a:t>
            </a:r>
            <a:r>
              <a:rPr sz="1900" b="1" i="0">
                <a:solidFill>
                  <a:srgbClr val="1F2430"/>
                </a:solidFill>
                <a:latin typeface="Arial"/>
              </a:rPr>
              <a:t>O'quvchi, o'qituvchi va ota-ona yagona tizimda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502920"/>
            <a:ext cx="118872" cy="50292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384048"/>
            <a:ext cx="95097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F2430"/>
                </a:solidFill>
                <a:latin typeface="Arial"/>
              </a:rPr>
              <a:t>Bitta tizimda 4 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411480"/>
            <a:ext cx="822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6B7280"/>
                </a:solidFill>
                <a:latin typeface="Arial"/>
              </a:rPr>
              <a:t>4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161288"/>
            <a:ext cx="10908792" cy="16459"/>
          </a:xfrm>
          <a:prstGeom prst="rect">
            <a:avLst/>
          </a:prstGeom>
          <a:solidFill>
            <a:srgbClr val="E0E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B7280"/>
                </a:solidFill>
                <a:latin typeface="Arial"/>
              </a:rPr>
              <a:t>Maktab CRM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6419088"/>
            <a:ext cx="12161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B7280"/>
                </a:solidFill>
                <a:latin typeface="Arial"/>
              </a:rP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508760"/>
            <a:ext cx="10424160" cy="4663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000" b="1" i="0">
                <a:solidFill>
                  <a:srgbClr val="4F46E5"/>
                </a:solidFill>
                <a:latin typeface="Arial"/>
              </a:rPr>
              <a:t>Administrator — butun maktab nazorati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000" b="1" i="0">
                <a:solidFill>
                  <a:srgbClr val="4F46E5"/>
                </a:solidFill>
                <a:latin typeface="Arial"/>
              </a:rPr>
              <a:t>O'qituvchi — o'z darslari, baholari, davomati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000" b="1" i="0">
                <a:solidFill>
                  <a:srgbClr val="4F46E5"/>
                </a:solidFill>
                <a:latin typeface="Arial"/>
              </a:rPr>
              <a:t>O'quvchi — o'z baholari va vazifalari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000" b="1" i="0">
                <a:solidFill>
                  <a:srgbClr val="4F46E5"/>
                </a:solidFill>
                <a:latin typeface="Arial"/>
              </a:rPr>
              <a:t>Ota-ona — farzandi natijalari</a:t>
            </a:r>
          </a:p>
          <a:p>
            <a:pPr algn="l">
              <a:spcBef>
                <a:spcPts val="800"/>
              </a:spcBef>
              <a:spcAft>
                <a:spcPts val="1000"/>
              </a:spcAft>
            </a:pPr>
            <a:r>
              <a:rPr sz="1900" b="1" i="0">
                <a:solidFill>
                  <a:srgbClr val="16A34A"/>
                </a:solidFill>
                <a:latin typeface="Arial"/>
              </a:rPr>
              <a:t>+ </a:t>
            </a:r>
            <a:r>
              <a:rPr sz="1900" b="1" i="0">
                <a:solidFill>
                  <a:srgbClr val="1F2430"/>
                </a:solidFill>
                <a:latin typeface="Arial"/>
              </a:rPr>
              <a:t>Har rol faqat o'ziga tegishlisini ko'radi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900" b="1" i="0">
                <a:solidFill>
                  <a:srgbClr val="16A34A"/>
                </a:solidFill>
                <a:latin typeface="Arial"/>
              </a:rPr>
              <a:t>+ </a:t>
            </a:r>
            <a:r>
              <a:rPr sz="1900" b="1" i="0">
                <a:solidFill>
                  <a:srgbClr val="1F2430"/>
                </a:solidFill>
                <a:latin typeface="Arial"/>
              </a:rPr>
              <a:t>Login'da rol tanlanadi — aralashuv bo'lmaydi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502920"/>
            <a:ext cx="118872" cy="50292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384048"/>
            <a:ext cx="95097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F2430"/>
                </a:solidFill>
                <a:latin typeface="Arial"/>
              </a:rPr>
              <a:t>Dars o'tkazish — asosiy ustunlik</a:t>
            </a:r>
            <a:r>
              <a:rPr sz="2400" b="1" i="0">
                <a:solidFill>
                  <a:srgbClr val="D97706"/>
                </a:solidFill>
                <a:latin typeface="Arial"/>
              </a:rPr>
              <a:t>  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411480"/>
            <a:ext cx="822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6B7280"/>
                </a:solidFill>
                <a:latin typeface="Arial"/>
              </a:rPr>
              <a:t>5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161288"/>
            <a:ext cx="10908792" cy="16459"/>
          </a:xfrm>
          <a:prstGeom prst="rect">
            <a:avLst/>
          </a:prstGeom>
          <a:solidFill>
            <a:srgbClr val="E0E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B7280"/>
                </a:solidFill>
                <a:latin typeface="Arial"/>
              </a:rPr>
              <a:t>Maktab CRM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6419088"/>
            <a:ext cx="12161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B7280"/>
                </a:solidFill>
                <a:latin typeface="Arial"/>
              </a:rPr>
              <a:t>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481328"/>
            <a:ext cx="104241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F2430"/>
                </a:solidFill>
                <a:latin typeface="Arial"/>
              </a:rPr>
              <a:t>Bitta oynada, 30 soniyada: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240280"/>
            <a:ext cx="10424160" cy="4663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900" b="1" i="0">
                <a:solidFill>
                  <a:srgbClr val="4F46E5"/>
                </a:solidFill>
                <a:latin typeface="Arial"/>
              </a:rPr>
              <a:t>•  </a:t>
            </a:r>
            <a:r>
              <a:rPr sz="1900" b="0" i="0">
                <a:solidFill>
                  <a:srgbClr val="1F2430"/>
                </a:solidFill>
                <a:latin typeface="Arial"/>
              </a:rPr>
              <a:t>Davomat — Keldi / Kelmadi / Kechikdi / Kasal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900" b="1" i="0">
                <a:solidFill>
                  <a:srgbClr val="4F46E5"/>
                </a:solidFill>
                <a:latin typeface="Arial"/>
              </a:rPr>
              <a:t>•  </a:t>
            </a:r>
            <a:r>
              <a:rPr sz="1900" b="0" i="0">
                <a:solidFill>
                  <a:srgbClr val="1F2430"/>
                </a:solidFill>
                <a:latin typeface="Arial"/>
              </a:rPr>
              <a:t>Baholar — har o'quvchiga bir bosishda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900" b="1" i="0">
                <a:solidFill>
                  <a:srgbClr val="4F46E5"/>
                </a:solidFill>
                <a:latin typeface="Arial"/>
              </a:rPr>
              <a:t>•  </a:t>
            </a:r>
            <a:r>
              <a:rPr sz="1900" b="0" i="0">
                <a:solidFill>
                  <a:srgbClr val="1F2430"/>
                </a:solidFill>
                <a:latin typeface="Arial"/>
              </a:rPr>
              <a:t>Uyga vazifa — sarlavha, mazmun, muddat</a:t>
            </a:r>
          </a:p>
          <a:p>
            <a:pPr algn="l">
              <a:spcBef>
                <a:spcPts val="600"/>
              </a:spcBef>
              <a:spcAft>
                <a:spcPts val="1000"/>
              </a:spcAft>
            </a:pPr>
            <a:r>
              <a:rPr sz="1900" b="1" i="0">
                <a:solidFill>
                  <a:srgbClr val="16A34A"/>
                </a:solidFill>
                <a:latin typeface="Arial"/>
              </a:rPr>
              <a:t>+ </a:t>
            </a:r>
            <a:r>
              <a:rPr sz="1900" b="1" i="0">
                <a:solidFill>
                  <a:srgbClr val="1F2430"/>
                </a:solidFill>
                <a:latin typeface="Arial"/>
              </a:rPr>
              <a:t>Bitta "Saqlash" — hammasi bir yo'la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900" b="1" i="0">
                <a:solidFill>
                  <a:srgbClr val="16A34A"/>
                </a:solidFill>
                <a:latin typeface="Arial"/>
              </a:rPr>
              <a:t>+ </a:t>
            </a:r>
            <a:r>
              <a:rPr sz="1900" b="1" i="0">
                <a:solidFill>
                  <a:srgbClr val="1F2430"/>
                </a:solidFill>
                <a:latin typeface="Arial"/>
              </a:rPr>
              <a:t>O'qituvchi darsni 3-4 daqiqada yakunlaydi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502920"/>
            <a:ext cx="118872" cy="50292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384048"/>
            <a:ext cx="95097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F2430"/>
                </a:solidFill>
                <a:latin typeface="Arial"/>
              </a:rPr>
              <a:t>Baholar jurnali + chorak bahosi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411480"/>
            <a:ext cx="822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6B7280"/>
                </a:solidFill>
                <a:latin typeface="Arial"/>
              </a:rPr>
              <a:t>6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161288"/>
            <a:ext cx="10908792" cy="16459"/>
          </a:xfrm>
          <a:prstGeom prst="rect">
            <a:avLst/>
          </a:prstGeom>
          <a:solidFill>
            <a:srgbClr val="E0E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B7280"/>
                </a:solidFill>
                <a:latin typeface="Arial"/>
              </a:rPr>
              <a:t>Maktab CRM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6419088"/>
            <a:ext cx="12161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B7280"/>
                </a:solidFill>
                <a:latin typeface="Arial"/>
              </a:rPr>
              <a:t>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508760"/>
            <a:ext cx="10424160" cy="4663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900" b="1" i="0">
                <a:solidFill>
                  <a:srgbClr val="4F46E5"/>
                </a:solidFill>
                <a:latin typeface="Arial"/>
              </a:rPr>
              <a:t>•  </a:t>
            </a:r>
            <a:r>
              <a:rPr sz="1900" b="0" i="0">
                <a:solidFill>
                  <a:srgbClr val="1F2430"/>
                </a:solidFill>
                <a:latin typeface="Arial"/>
              </a:rPr>
              <a:t>Oylik jadval, katak ustiga bosib baho qo'yish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900" b="1" i="0">
                <a:solidFill>
                  <a:srgbClr val="4F46E5"/>
                </a:solidFill>
                <a:latin typeface="Arial"/>
              </a:rPr>
              <a:t>•  </a:t>
            </a:r>
            <a:r>
              <a:rPr sz="1900" b="0" i="0">
                <a:solidFill>
                  <a:srgbClr val="1F2430"/>
                </a:solidFill>
                <a:latin typeface="Arial"/>
              </a:rPr>
              <a:t>Joriy / Oraliq / Chorak baholari</a:t>
            </a:r>
          </a:p>
          <a:p>
            <a:pPr algn="l">
              <a:spcBef>
                <a:spcPts val="600"/>
              </a:spcBef>
              <a:spcAft>
                <a:spcPts val="1000"/>
              </a:spcAft>
            </a:pPr>
            <a:r>
              <a:rPr sz="1900" b="1" i="0">
                <a:solidFill>
                  <a:srgbClr val="16A34A"/>
                </a:solidFill>
                <a:latin typeface="Arial"/>
              </a:rPr>
              <a:t>+ </a:t>
            </a:r>
            <a:r>
              <a:rPr sz="1900" b="1" i="0">
                <a:solidFill>
                  <a:srgbClr val="1F2430"/>
                </a:solidFill>
                <a:latin typeface="Arial"/>
              </a:rPr>
              <a:t>Chorak bahosi avtomatik hisoblanadi (o'rtachadan)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900" b="1" i="0">
                <a:solidFill>
                  <a:srgbClr val="16A34A"/>
                </a:solidFill>
                <a:latin typeface="Arial"/>
              </a:rPr>
              <a:t>+ </a:t>
            </a:r>
            <a:r>
              <a:rPr sz="1900" b="1" i="0">
                <a:solidFill>
                  <a:srgbClr val="1F2430"/>
                </a:solidFill>
                <a:latin typeface="Arial"/>
              </a:rPr>
              <a:t>Kerak bo'lsa qo'lda tuzatish mumkin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900" b="1" i="0">
                <a:solidFill>
                  <a:srgbClr val="16A34A"/>
                </a:solidFill>
                <a:latin typeface="Arial"/>
              </a:rPr>
              <a:t>+ </a:t>
            </a:r>
            <a:r>
              <a:rPr sz="1900" b="1" i="0">
                <a:solidFill>
                  <a:srgbClr val="1F2430"/>
                </a:solidFill>
                <a:latin typeface="Arial"/>
              </a:rPr>
              <a:t>Hisoblash xatolari yo'qoladi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502920"/>
            <a:ext cx="118872" cy="50292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384048"/>
            <a:ext cx="95097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F2430"/>
                </a:solidFill>
                <a:latin typeface="Arial"/>
              </a:rPr>
              <a:t>Davomat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411480"/>
            <a:ext cx="822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6B7280"/>
                </a:solidFill>
                <a:latin typeface="Arial"/>
              </a:rPr>
              <a:t>7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161288"/>
            <a:ext cx="10908792" cy="16459"/>
          </a:xfrm>
          <a:prstGeom prst="rect">
            <a:avLst/>
          </a:prstGeom>
          <a:solidFill>
            <a:srgbClr val="E0E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B7280"/>
                </a:solidFill>
                <a:latin typeface="Arial"/>
              </a:rPr>
              <a:t>Maktab CRM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6419088"/>
            <a:ext cx="12161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B7280"/>
                </a:solidFill>
                <a:latin typeface="Arial"/>
              </a:rPr>
              <a:t>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508760"/>
            <a:ext cx="10424160" cy="4663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900" b="1" i="0">
                <a:solidFill>
                  <a:srgbClr val="4F46E5"/>
                </a:solidFill>
                <a:latin typeface="Arial"/>
              </a:rPr>
              <a:t>•  </a:t>
            </a:r>
            <a:r>
              <a:rPr sz="1900" b="0" i="0">
                <a:solidFill>
                  <a:srgbClr val="1F2430"/>
                </a:solidFill>
                <a:latin typeface="Arial"/>
              </a:rPr>
              <a:t>Har kunga Keldi / Kelmadi / Kechikdi / Kasal belgilanadi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900" b="1" i="0">
                <a:solidFill>
                  <a:srgbClr val="4F46E5"/>
                </a:solidFill>
                <a:latin typeface="Arial"/>
              </a:rPr>
              <a:t>•  </a:t>
            </a:r>
            <a:r>
              <a:rPr sz="1900" b="0" i="0">
                <a:solidFill>
                  <a:srgbClr val="1F2430"/>
                </a:solidFill>
                <a:latin typeface="Arial"/>
              </a:rPr>
              <a:t>"Hammasi keldi" tugmasi — bir bosishda</a:t>
            </a:r>
          </a:p>
          <a:p>
            <a:pPr algn="l">
              <a:spcBef>
                <a:spcPts val="600"/>
              </a:spcBef>
              <a:spcAft>
                <a:spcPts val="1000"/>
              </a:spcAft>
            </a:pPr>
            <a:r>
              <a:rPr sz="1900" b="1" i="0">
                <a:solidFill>
                  <a:srgbClr val="16A34A"/>
                </a:solidFill>
                <a:latin typeface="Arial"/>
              </a:rPr>
              <a:t>+ </a:t>
            </a:r>
            <a:r>
              <a:rPr sz="1900" b="1" i="0">
                <a:solidFill>
                  <a:srgbClr val="1F2430"/>
                </a:solidFill>
                <a:latin typeface="Arial"/>
              </a:rPr>
              <a:t>Haftalik davomat grafigi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900" b="1" i="0">
                <a:solidFill>
                  <a:srgbClr val="16A34A"/>
                </a:solidFill>
                <a:latin typeface="Arial"/>
              </a:rPr>
              <a:t>+ </a:t>
            </a:r>
            <a:r>
              <a:rPr sz="1900" b="1" i="0">
                <a:solidFill>
                  <a:srgbClr val="1F2430"/>
                </a:solidFill>
                <a:latin typeface="Arial"/>
              </a:rPr>
              <a:t>Ota-ona farzandining kelganini ko'radi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502920"/>
            <a:ext cx="118872" cy="50292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384048"/>
            <a:ext cx="95097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F2430"/>
                </a:solidFill>
                <a:latin typeface="Arial"/>
              </a:rPr>
              <a:t>Uyga vazifa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411480"/>
            <a:ext cx="822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6B7280"/>
                </a:solidFill>
                <a:latin typeface="Arial"/>
              </a:rPr>
              <a:t>8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161288"/>
            <a:ext cx="10908792" cy="16459"/>
          </a:xfrm>
          <a:prstGeom prst="rect">
            <a:avLst/>
          </a:prstGeom>
          <a:solidFill>
            <a:srgbClr val="E0E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B7280"/>
                </a:solidFill>
                <a:latin typeface="Arial"/>
              </a:rPr>
              <a:t>Maktab CRM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6419088"/>
            <a:ext cx="12161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B7280"/>
                </a:solidFill>
                <a:latin typeface="Arial"/>
              </a:rPr>
              <a:t>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508760"/>
            <a:ext cx="10424160" cy="4663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900" b="1" i="0">
                <a:solidFill>
                  <a:srgbClr val="4F46E5"/>
                </a:solidFill>
                <a:latin typeface="Arial"/>
              </a:rPr>
              <a:t>•  </a:t>
            </a:r>
            <a:r>
              <a:rPr sz="1900" b="0" i="0">
                <a:solidFill>
                  <a:srgbClr val="1F2430"/>
                </a:solidFill>
                <a:latin typeface="Arial"/>
              </a:rPr>
              <a:t>O'qituvchi vazifa beradi, muddat belgilaydi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900" b="1" i="0">
                <a:solidFill>
                  <a:srgbClr val="4F46E5"/>
                </a:solidFill>
                <a:latin typeface="Arial"/>
              </a:rPr>
              <a:t>•  </a:t>
            </a:r>
            <a:r>
              <a:rPr sz="1900" b="0" i="0">
                <a:solidFill>
                  <a:srgbClr val="1F2430"/>
                </a:solidFill>
                <a:latin typeface="Arial"/>
              </a:rPr>
              <a:t>O'quvchilar bo'yicha bajarilish holati</a:t>
            </a:r>
          </a:p>
          <a:p>
            <a:pPr algn="l">
              <a:spcBef>
                <a:spcPts val="600"/>
              </a:spcBef>
              <a:spcAft>
                <a:spcPts val="1000"/>
              </a:spcAft>
            </a:pPr>
            <a:r>
              <a:rPr sz="1900" b="1" i="0">
                <a:solidFill>
                  <a:srgbClr val="16A34A"/>
                </a:solidFill>
                <a:latin typeface="Arial"/>
              </a:rPr>
              <a:t>+ </a:t>
            </a:r>
            <a:r>
              <a:rPr sz="1900" b="1" i="0">
                <a:solidFill>
                  <a:srgbClr val="1F2430"/>
                </a:solidFill>
                <a:latin typeface="Arial"/>
              </a:rPr>
              <a:t>Bajarilish foizi avtomatik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900" b="1" i="0">
                <a:solidFill>
                  <a:srgbClr val="16A34A"/>
                </a:solidFill>
                <a:latin typeface="Arial"/>
              </a:rPr>
              <a:t>+ </a:t>
            </a:r>
            <a:r>
              <a:rPr sz="1900" b="1" i="0">
                <a:solidFill>
                  <a:srgbClr val="1F2430"/>
                </a:solidFill>
                <a:latin typeface="Arial"/>
              </a:rPr>
              <a:t>Har bir o'quvchiga alohida baho va izoh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502920"/>
            <a:ext cx="118872" cy="50292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384048"/>
            <a:ext cx="95097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F2430"/>
                </a:solidFill>
                <a:latin typeface="Arial"/>
              </a:rPr>
              <a:t>Dars jadvali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411480"/>
            <a:ext cx="822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6B7280"/>
                </a:solidFill>
                <a:latin typeface="Arial"/>
              </a:rPr>
              <a:t>9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161288"/>
            <a:ext cx="10908792" cy="16459"/>
          </a:xfrm>
          <a:prstGeom prst="rect">
            <a:avLst/>
          </a:prstGeom>
          <a:solidFill>
            <a:srgbClr val="E0E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B7280"/>
                </a:solidFill>
                <a:latin typeface="Arial"/>
              </a:rPr>
              <a:t>Maktab CRM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6419088"/>
            <a:ext cx="12161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B7280"/>
                </a:solidFill>
                <a:latin typeface="Arial"/>
              </a:rPr>
              <a:t>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508760"/>
            <a:ext cx="10424160" cy="4663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900" b="1" i="0">
                <a:solidFill>
                  <a:srgbClr val="4F46E5"/>
                </a:solidFill>
                <a:latin typeface="Arial"/>
              </a:rPr>
              <a:t>•  </a:t>
            </a:r>
            <a:r>
              <a:rPr sz="1900" b="0" i="0">
                <a:solidFill>
                  <a:srgbClr val="1F2430"/>
                </a:solidFill>
                <a:latin typeface="Arial"/>
              </a:rPr>
              <a:t>Haftalik setka (Dushanba - Shanba x para)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900" b="1" i="0">
                <a:solidFill>
                  <a:srgbClr val="4F46E5"/>
                </a:solidFill>
                <a:latin typeface="Arial"/>
              </a:rPr>
              <a:t>•  </a:t>
            </a:r>
            <a:r>
              <a:rPr sz="1900" b="0" i="0">
                <a:solidFill>
                  <a:srgbClr val="1F2430"/>
                </a:solidFill>
                <a:latin typeface="Arial"/>
              </a:rPr>
              <a:t>Fan, o'qituvchi, vaqt, xona</a:t>
            </a:r>
          </a:p>
          <a:p>
            <a:pPr algn="l">
              <a:spcBef>
                <a:spcPts val="600"/>
              </a:spcBef>
              <a:spcAft>
                <a:spcPts val="1000"/>
              </a:spcAft>
            </a:pPr>
            <a:r>
              <a:rPr sz="1900" b="1" i="0">
                <a:solidFill>
                  <a:srgbClr val="16A34A"/>
                </a:solidFill>
                <a:latin typeface="Arial"/>
              </a:rPr>
              <a:t>+ </a:t>
            </a:r>
            <a:r>
              <a:rPr sz="1900" b="1" i="0">
                <a:solidFill>
                  <a:srgbClr val="1F2430"/>
                </a:solidFill>
                <a:latin typeface="Arial"/>
              </a:rPr>
              <a:t>O'quvchi o'z jadvalini ko'radi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900" b="1" i="0">
                <a:solidFill>
                  <a:srgbClr val="16A34A"/>
                </a:solidFill>
                <a:latin typeface="Arial"/>
              </a:rPr>
              <a:t>+ </a:t>
            </a:r>
            <a:r>
              <a:rPr sz="1900" b="1" i="0">
                <a:solidFill>
                  <a:srgbClr val="1F2430"/>
                </a:solidFill>
                <a:latin typeface="Arial"/>
              </a:rPr>
              <a:t>Bir bosishda tahrirlash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502920"/>
            <a:ext cx="118872" cy="50292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384048"/>
            <a:ext cx="95097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F2430"/>
                </a:solidFill>
                <a:latin typeface="Arial"/>
              </a:rPr>
              <a:t>O'quvchi va ota-ona paneli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411480"/>
            <a:ext cx="822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6B7280"/>
                </a:solidFill>
                <a:latin typeface="Arial"/>
              </a:rPr>
              <a:t>10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161288"/>
            <a:ext cx="10908792" cy="16459"/>
          </a:xfrm>
          <a:prstGeom prst="rect">
            <a:avLst/>
          </a:prstGeom>
          <a:solidFill>
            <a:srgbClr val="E0E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B7280"/>
                </a:solidFill>
                <a:latin typeface="Arial"/>
              </a:rPr>
              <a:t>Maktab CRM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6419088"/>
            <a:ext cx="12161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B7280"/>
                </a:solidFill>
                <a:latin typeface="Arial"/>
              </a:rPr>
              <a:t>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508760"/>
            <a:ext cx="10424160" cy="4663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900" b="1" i="0">
                <a:solidFill>
                  <a:srgbClr val="4F46E5"/>
                </a:solidFill>
                <a:latin typeface="Arial"/>
              </a:rPr>
              <a:t>•  </a:t>
            </a:r>
            <a:r>
              <a:rPr sz="1900" b="0" i="0">
                <a:solidFill>
                  <a:srgbClr val="1F2430"/>
                </a:solidFill>
                <a:latin typeface="Arial"/>
              </a:rPr>
              <a:t>O'rtacha baho, baholar soni, davomat foizi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900" b="1" i="0">
                <a:solidFill>
                  <a:srgbClr val="4F46E5"/>
                </a:solidFill>
                <a:latin typeface="Arial"/>
              </a:rPr>
              <a:t>•  </a:t>
            </a:r>
            <a:r>
              <a:rPr sz="1900" b="0" i="0">
                <a:solidFill>
                  <a:srgbClr val="1F2430"/>
                </a:solidFill>
                <a:latin typeface="Arial"/>
              </a:rPr>
              <a:t>Fanlar bo'yicha o'zlashtirish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900" b="1" i="0">
                <a:solidFill>
                  <a:srgbClr val="4F46E5"/>
                </a:solidFill>
                <a:latin typeface="Arial"/>
              </a:rPr>
              <a:t>•  </a:t>
            </a:r>
            <a:r>
              <a:rPr sz="1900" b="0" i="0">
                <a:solidFill>
                  <a:srgbClr val="1F2430"/>
                </a:solidFill>
                <a:latin typeface="Arial"/>
              </a:rPr>
              <a:t>Bugungi darslar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900" b="1" i="0">
                <a:solidFill>
                  <a:srgbClr val="4F46E5"/>
                </a:solidFill>
                <a:latin typeface="Arial"/>
              </a:rPr>
              <a:t>•  </a:t>
            </a:r>
            <a:r>
              <a:rPr sz="1900" b="0" i="0">
                <a:solidFill>
                  <a:srgbClr val="1F2430"/>
                </a:solidFill>
                <a:latin typeface="Arial"/>
              </a:rPr>
              <a:t>So'nggi baholar va chorak baholari</a:t>
            </a:r>
          </a:p>
          <a:p>
            <a:pPr algn="l">
              <a:spcBef>
                <a:spcPts val="600"/>
              </a:spcBef>
              <a:spcAft>
                <a:spcPts val="1000"/>
              </a:spcAft>
            </a:pPr>
            <a:r>
              <a:rPr sz="1900" b="1" i="0">
                <a:solidFill>
                  <a:srgbClr val="16A34A"/>
                </a:solidFill>
                <a:latin typeface="Arial"/>
              </a:rPr>
              <a:t>+ </a:t>
            </a:r>
            <a:r>
              <a:rPr sz="1900" b="1" i="0">
                <a:solidFill>
                  <a:srgbClr val="1F2430"/>
                </a:solidFill>
                <a:latin typeface="Arial"/>
              </a:rPr>
              <a:t>Ota-ona bir qarashda farzandi ahvolini biladi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502920"/>
            <a:ext cx="118872" cy="50292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384048"/>
            <a:ext cx="95097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F2430"/>
                </a:solidFill>
                <a:latin typeface="Arial"/>
              </a:rPr>
              <a:t>Administrator paneli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411480"/>
            <a:ext cx="822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6B7280"/>
                </a:solidFill>
                <a:latin typeface="Arial"/>
              </a:rPr>
              <a:t>11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161288"/>
            <a:ext cx="10908792" cy="16459"/>
          </a:xfrm>
          <a:prstGeom prst="rect">
            <a:avLst/>
          </a:prstGeom>
          <a:solidFill>
            <a:srgbClr val="E0E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B7280"/>
                </a:solidFill>
                <a:latin typeface="Arial"/>
              </a:rPr>
              <a:t>Maktab CRM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6419088"/>
            <a:ext cx="12161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B7280"/>
                </a:solidFill>
                <a:latin typeface="Arial"/>
              </a:rPr>
              <a:t>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508760"/>
            <a:ext cx="10424160" cy="4663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900" b="1" i="0">
                <a:solidFill>
                  <a:srgbClr val="4F46E5"/>
                </a:solidFill>
                <a:latin typeface="Arial"/>
              </a:rPr>
              <a:t>•  </a:t>
            </a:r>
            <a:r>
              <a:rPr sz="1900" b="0" i="0">
                <a:solidFill>
                  <a:srgbClr val="1F2430"/>
                </a:solidFill>
                <a:latin typeface="Arial"/>
              </a:rPr>
              <a:t>O'quvchilar, o'qituvchilar, sinflar, fanlar statistikasi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900" b="1" i="0">
                <a:solidFill>
                  <a:srgbClr val="4F46E5"/>
                </a:solidFill>
                <a:latin typeface="Arial"/>
              </a:rPr>
              <a:t>•  </a:t>
            </a:r>
            <a:r>
              <a:rPr sz="1900" b="0" i="0">
                <a:solidFill>
                  <a:srgbClr val="1F2430"/>
                </a:solidFill>
                <a:latin typeface="Arial"/>
              </a:rPr>
              <a:t>Haftalik davomat grafigi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900" b="1" i="0">
                <a:solidFill>
                  <a:srgbClr val="4F46E5"/>
                </a:solidFill>
                <a:latin typeface="Arial"/>
              </a:rPr>
              <a:t>•  </a:t>
            </a:r>
            <a:r>
              <a:rPr sz="1900" b="0" i="0">
                <a:solidFill>
                  <a:srgbClr val="1F2430"/>
                </a:solidFill>
                <a:latin typeface="Arial"/>
              </a:rPr>
              <a:t>So'nggi baholar va e'lonlar</a:t>
            </a:r>
          </a:p>
          <a:p>
            <a:pPr algn="l">
              <a:spcBef>
                <a:spcPts val="600"/>
              </a:spcBef>
              <a:spcAft>
                <a:spcPts val="1000"/>
              </a:spcAft>
            </a:pPr>
            <a:r>
              <a:rPr sz="1900" b="1" i="0">
                <a:solidFill>
                  <a:srgbClr val="16A34A"/>
                </a:solidFill>
                <a:latin typeface="Arial"/>
              </a:rPr>
              <a:t>+ </a:t>
            </a:r>
            <a:r>
              <a:rPr sz="1900" b="1" i="0">
                <a:solidFill>
                  <a:srgbClr val="1F2430"/>
                </a:solidFill>
                <a:latin typeface="Arial"/>
              </a:rPr>
              <a:t>Butun maktab ahvoli bitta ekranda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502920"/>
            <a:ext cx="118872" cy="50292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384048"/>
            <a:ext cx="95097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F2430"/>
                </a:solidFill>
                <a:latin typeface="Arial"/>
              </a:rPr>
              <a:t>Xavfsiz ro'yxatdan o'tish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411480"/>
            <a:ext cx="822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6B7280"/>
                </a:solidFill>
                <a:latin typeface="Arial"/>
              </a:rPr>
              <a:t>12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161288"/>
            <a:ext cx="10908792" cy="16459"/>
          </a:xfrm>
          <a:prstGeom prst="rect">
            <a:avLst/>
          </a:prstGeom>
          <a:solidFill>
            <a:srgbClr val="E0E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B7280"/>
                </a:solidFill>
                <a:latin typeface="Arial"/>
              </a:rPr>
              <a:t>Maktab CRM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6419088"/>
            <a:ext cx="12161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B7280"/>
                </a:solidFill>
                <a:latin typeface="Arial"/>
              </a:rPr>
              <a:t>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508760"/>
            <a:ext cx="10424160" cy="4663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900" b="1" i="0">
                <a:solidFill>
                  <a:srgbClr val="4F46E5"/>
                </a:solidFill>
                <a:latin typeface="Arial"/>
              </a:rPr>
              <a:t>•  </a:t>
            </a:r>
            <a:r>
              <a:rPr sz="1900" b="0" i="0">
                <a:solidFill>
                  <a:srgbClr val="1F2430"/>
                </a:solidFill>
                <a:latin typeface="Arial"/>
              </a:rPr>
              <a:t>Har kim o'zi ro'yxatdan o'tadi (o'qituvchi / o'quvchi / ota-ona)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900" b="1" i="0">
                <a:solidFill>
                  <a:srgbClr val="4F46E5"/>
                </a:solidFill>
                <a:latin typeface="Arial"/>
              </a:rPr>
              <a:t>•  </a:t>
            </a:r>
            <a:r>
              <a:rPr sz="1900" b="0" i="0">
                <a:solidFill>
                  <a:srgbClr val="1F2430"/>
                </a:solidFill>
                <a:latin typeface="Arial"/>
              </a:rPr>
              <a:t>Admin tasdiqlaydi — faqat shundan keyin kiradi</a:t>
            </a:r>
          </a:p>
          <a:p>
            <a:pPr algn="l">
              <a:spcBef>
                <a:spcPts val="600"/>
              </a:spcBef>
              <a:spcAft>
                <a:spcPts val="1000"/>
              </a:spcAft>
            </a:pPr>
            <a:r>
              <a:rPr sz="1900" b="1" i="0">
                <a:solidFill>
                  <a:srgbClr val="16A34A"/>
                </a:solidFill>
                <a:latin typeface="Arial"/>
              </a:rPr>
              <a:t>+ </a:t>
            </a:r>
            <a:r>
              <a:rPr sz="1900" b="1" i="0">
                <a:solidFill>
                  <a:srgbClr val="1F2430"/>
                </a:solidFill>
                <a:latin typeface="Arial"/>
              </a:rPr>
              <a:t>Begona odam tizimga kira olmaydi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900" b="1" i="0">
                <a:solidFill>
                  <a:srgbClr val="16A34A"/>
                </a:solidFill>
                <a:latin typeface="Arial"/>
              </a:rPr>
              <a:t>+ </a:t>
            </a:r>
            <a:r>
              <a:rPr sz="1900" b="1" i="0">
                <a:solidFill>
                  <a:srgbClr val="1F2430"/>
                </a:solidFill>
                <a:latin typeface="Arial"/>
              </a:rPr>
              <a:t>Tasdiqlanmagan hisob bloklangan holda turadi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502920"/>
            <a:ext cx="118872" cy="50292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384048"/>
            <a:ext cx="95097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F2430"/>
                </a:solidFill>
                <a:latin typeface="Arial"/>
              </a:rPr>
              <a:t>E'lonlar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411480"/>
            <a:ext cx="822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6B7280"/>
                </a:solidFill>
                <a:latin typeface="Arial"/>
              </a:rPr>
              <a:t>13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161288"/>
            <a:ext cx="10908792" cy="16459"/>
          </a:xfrm>
          <a:prstGeom prst="rect">
            <a:avLst/>
          </a:prstGeom>
          <a:solidFill>
            <a:srgbClr val="E0E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B7280"/>
                </a:solidFill>
                <a:latin typeface="Arial"/>
              </a:rPr>
              <a:t>Maktab CRM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6419088"/>
            <a:ext cx="12161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B7280"/>
                </a:solidFill>
                <a:latin typeface="Arial"/>
              </a:rPr>
              <a:t>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508760"/>
            <a:ext cx="10424160" cy="4663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900" b="1" i="0">
                <a:solidFill>
                  <a:srgbClr val="4F46E5"/>
                </a:solidFill>
                <a:latin typeface="Arial"/>
              </a:rPr>
              <a:t>•  </a:t>
            </a:r>
            <a:r>
              <a:rPr sz="1900" b="0" i="0">
                <a:solidFill>
                  <a:srgbClr val="1F2430"/>
                </a:solidFill>
                <a:latin typeface="Arial"/>
              </a:rPr>
              <a:t>Hamma / o'qituvchilar / o'quvchilar / ota-onalar / bitta sinfga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900" b="1" i="0">
                <a:solidFill>
                  <a:srgbClr val="4F46E5"/>
                </a:solidFill>
                <a:latin typeface="Arial"/>
              </a:rPr>
              <a:t>•  </a:t>
            </a:r>
            <a:r>
              <a:rPr sz="1900" b="0" i="0">
                <a:solidFill>
                  <a:srgbClr val="1F2430"/>
                </a:solidFill>
                <a:latin typeface="Arial"/>
              </a:rPr>
              <a:t>Muhim e'lonlarni qadab qo'yish</a:t>
            </a:r>
          </a:p>
          <a:p>
            <a:pPr algn="l">
              <a:spcBef>
                <a:spcPts val="600"/>
              </a:spcBef>
              <a:spcAft>
                <a:spcPts val="1000"/>
              </a:spcAft>
            </a:pPr>
            <a:r>
              <a:rPr sz="1900" b="1" i="0">
                <a:solidFill>
                  <a:srgbClr val="16A34A"/>
                </a:solidFill>
                <a:latin typeface="Arial"/>
              </a:rPr>
              <a:t>+ </a:t>
            </a:r>
            <a:r>
              <a:rPr sz="1900" b="1" i="0">
                <a:solidFill>
                  <a:srgbClr val="1F2430"/>
                </a:solidFill>
                <a:latin typeface="Arial"/>
              </a:rPr>
              <a:t>Ma'lumot markazlashgan — guruh chatlariga ehtiyoj yo'q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502920"/>
            <a:ext cx="118872" cy="50292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384048"/>
            <a:ext cx="95097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F2430"/>
                </a:solidFill>
                <a:latin typeface="Arial"/>
              </a:rPr>
              <a:t>Nega aynan biz?</a:t>
            </a:r>
            <a:r>
              <a:rPr sz="2400" b="1" i="0">
                <a:solidFill>
                  <a:srgbClr val="D97706"/>
                </a:solidFill>
                <a:latin typeface="Arial"/>
              </a:rPr>
              <a:t>  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411480"/>
            <a:ext cx="822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6B7280"/>
                </a:solidFill>
                <a:latin typeface="Arial"/>
              </a:rPr>
              <a:t>14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161288"/>
            <a:ext cx="10908792" cy="16459"/>
          </a:xfrm>
          <a:prstGeom prst="rect">
            <a:avLst/>
          </a:prstGeom>
          <a:solidFill>
            <a:srgbClr val="E0E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B7280"/>
                </a:solidFill>
                <a:latin typeface="Arial"/>
              </a:rPr>
              <a:t>Maktab CRM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6419088"/>
            <a:ext cx="12161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B7280"/>
                </a:solidFill>
                <a:latin typeface="Arial"/>
              </a:rPr>
              <a:t>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508760"/>
            <a:ext cx="10424160" cy="4663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16A34A"/>
                </a:solidFill>
                <a:latin typeface="Arial"/>
              </a:rPr>
              <a:t>+ </a:t>
            </a:r>
            <a:r>
              <a:rPr sz="1700" b="1" i="0">
                <a:solidFill>
                  <a:srgbClr val="1F2430"/>
                </a:solidFill>
                <a:latin typeface="Arial"/>
              </a:rPr>
              <a:t>O'zbek tilida, mahalliy maktabga moslashgan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16A34A"/>
                </a:solidFill>
                <a:latin typeface="Arial"/>
              </a:rPr>
              <a:t>+ </a:t>
            </a:r>
            <a:r>
              <a:rPr sz="1700" b="1" i="0">
                <a:solidFill>
                  <a:srgbClr val="1F2430"/>
                </a:solidFill>
                <a:latin typeface="Arial"/>
              </a:rPr>
              <a:t>Kundalik.com uslubida, lekin sizning nazoratingizda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16A34A"/>
                </a:solidFill>
                <a:latin typeface="Arial"/>
              </a:rPr>
              <a:t>+ </a:t>
            </a:r>
            <a:r>
              <a:rPr sz="1700" b="1" i="0">
                <a:solidFill>
                  <a:srgbClr val="1F2430"/>
                </a:solidFill>
                <a:latin typeface="Arial"/>
              </a:rPr>
              <a:t>Ma'lumot maktabning o'z serverida — tashqi bog'liqlik yo'q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16A34A"/>
                </a:solidFill>
                <a:latin typeface="Arial"/>
              </a:rPr>
              <a:t>+ </a:t>
            </a:r>
            <a:r>
              <a:rPr sz="1700" b="1" i="0">
                <a:solidFill>
                  <a:srgbClr val="1F2430"/>
                </a:solidFill>
                <a:latin typeface="Arial"/>
              </a:rPr>
              <a:t>Arzon — oylik obuna to'lovi yo'q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16A34A"/>
                </a:solidFill>
                <a:latin typeface="Arial"/>
              </a:rPr>
              <a:t>+ </a:t>
            </a:r>
            <a:r>
              <a:rPr sz="1700" b="1" i="0">
                <a:solidFill>
                  <a:srgbClr val="1F2430"/>
                </a:solidFill>
                <a:latin typeface="Arial"/>
              </a:rPr>
              <a:t>Moslashtiriladi — maktab nomi, logotipi, bo'limlar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16A34A"/>
                </a:solidFill>
                <a:latin typeface="Arial"/>
              </a:rPr>
              <a:t>+ </a:t>
            </a:r>
            <a:r>
              <a:rPr sz="1700" b="1" i="0">
                <a:solidFill>
                  <a:srgbClr val="1F2430"/>
                </a:solidFill>
                <a:latin typeface="Arial"/>
              </a:rPr>
              <a:t>Tez joriy etiladi — o'rnatish va o'qitish 1 kun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16A34A"/>
                </a:solidFill>
                <a:latin typeface="Arial"/>
              </a:rPr>
              <a:t>+ </a:t>
            </a:r>
            <a:r>
              <a:rPr sz="1700" b="1" i="0">
                <a:solidFill>
                  <a:srgbClr val="1F2430"/>
                </a:solidFill>
                <a:latin typeface="Arial"/>
              </a:rPr>
              <a:t>Sodda interfeys va kun/tun rejimi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502920"/>
            <a:ext cx="118872" cy="50292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384048"/>
            <a:ext cx="95097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F2430"/>
                </a:solidFill>
                <a:latin typeface="Arial"/>
              </a:rPr>
              <a:t>Raqobatchilardan farqi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411480"/>
            <a:ext cx="822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6B7280"/>
                </a:solidFill>
                <a:latin typeface="Arial"/>
              </a:rPr>
              <a:t>15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161288"/>
            <a:ext cx="10908792" cy="16459"/>
          </a:xfrm>
          <a:prstGeom prst="rect">
            <a:avLst/>
          </a:prstGeom>
          <a:solidFill>
            <a:srgbClr val="E0E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B7280"/>
                </a:solidFill>
                <a:latin typeface="Arial"/>
              </a:rPr>
              <a:t>Maktab CRM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6419088"/>
            <a:ext cx="12161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B7280"/>
                </a:solidFill>
                <a:latin typeface="Arial"/>
              </a:rPr>
              <a:t>15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868680" y="1554480"/>
          <a:ext cx="10424160" cy="39502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2194560"/>
                <a:gridCol w="2194560"/>
                <a:gridCol w="2194560"/>
              </a:tblGrid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FFFFFF"/>
                          </a:solidFill>
                          <a:latin typeface="Arial"/>
                        </a:rPr>
                        <a:t>Mezon</a:t>
                      </a:r>
                    </a:p>
                  </a:txBody>
                  <a:tcPr marL="109728" marR="73152" marT="36576" marB="36576" anchor="ctr">
                    <a:solidFill>
                      <a:srgbClr val="4F46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Arial"/>
                        </a:rPr>
                        <a:t>Qog'oz jurnal</a:t>
                      </a:r>
                    </a:p>
                  </a:txBody>
                  <a:tcPr marL="109728" marR="73152" marT="36576" marB="36576" anchor="ctr">
                    <a:solidFill>
                      <a:srgbClr val="4F46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Arial"/>
                        </a:rPr>
                        <a:t>Onlayn xizmatlar</a:t>
                      </a:r>
                    </a:p>
                  </a:txBody>
                  <a:tcPr marL="109728" marR="73152" marT="36576" marB="36576" anchor="ctr">
                    <a:solidFill>
                      <a:srgbClr val="4F46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Arial"/>
                        </a:rPr>
                        <a:t>Maktab CRM</a:t>
                      </a:r>
                    </a:p>
                  </a:txBody>
                  <a:tcPr marL="109728" marR="73152" marT="36576" marB="36576" anchor="ctr">
                    <a:solidFill>
                      <a:srgbClr val="4F46E5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1F2430"/>
                          </a:solidFill>
                          <a:latin typeface="Arial"/>
                        </a:rPr>
                        <a:t>O'zbekcha</a:t>
                      </a:r>
                    </a:p>
                  </a:txBody>
                  <a:tcPr marL="109728" marR="73152" marT="36576" marB="36576" anchor="ctr">
                    <a:solidFill>
                      <a:srgbClr val="F4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6B7280"/>
                          </a:solidFill>
                          <a:latin typeface="Arial"/>
                        </a:rPr>
                        <a:t>-</a:t>
                      </a:r>
                    </a:p>
                  </a:txBody>
                  <a:tcPr marL="109728" marR="73152" marT="36576" marB="36576" anchor="ctr">
                    <a:solidFill>
                      <a:srgbClr val="F4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16A34A"/>
                          </a:solidFill>
                          <a:latin typeface="Arial"/>
                        </a:rPr>
                        <a:t>+</a:t>
                      </a:r>
                    </a:p>
                  </a:txBody>
                  <a:tcPr marL="109728" marR="73152" marT="36576" marB="36576" anchor="ctr">
                    <a:solidFill>
                      <a:srgbClr val="F4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4F46E5"/>
                          </a:solidFill>
                          <a:latin typeface="Arial"/>
                        </a:rPr>
                        <a:t>+</a:t>
                      </a:r>
                    </a:p>
                  </a:txBody>
                  <a:tcPr marL="109728" marR="73152" marT="36576" marB="36576" anchor="ctr">
                    <a:solidFill>
                      <a:srgbClr val="EEF0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1F2430"/>
                          </a:solidFill>
                          <a:latin typeface="Arial"/>
                        </a:rPr>
                        <a:t>Ma'lumot nazorati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16A34A"/>
                          </a:solidFill>
                          <a:latin typeface="Arial"/>
                        </a:rPr>
                        <a:t>+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6B7280"/>
                          </a:solidFill>
                          <a:latin typeface="Arial"/>
                        </a:rPr>
                        <a:t>-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4F46E5"/>
                          </a:solidFill>
                          <a:latin typeface="Arial"/>
                        </a:rPr>
                        <a:t>+</a:t>
                      </a:r>
                    </a:p>
                  </a:txBody>
                  <a:tcPr marL="109728" marR="73152" marT="36576" marB="36576" anchor="ctr">
                    <a:solidFill>
                      <a:srgbClr val="EEF0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1F2430"/>
                          </a:solidFill>
                          <a:latin typeface="Arial"/>
                        </a:rPr>
                        <a:t>Oylik to'lov</a:t>
                      </a:r>
                    </a:p>
                  </a:txBody>
                  <a:tcPr marL="109728" marR="73152" marT="36576" marB="36576" anchor="ctr">
                    <a:solidFill>
                      <a:srgbClr val="F4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6B7280"/>
                          </a:solidFill>
                          <a:latin typeface="Arial"/>
                        </a:rPr>
                        <a:t>-</a:t>
                      </a:r>
                    </a:p>
                  </a:txBody>
                  <a:tcPr marL="109728" marR="73152" marT="36576" marB="36576" anchor="ctr">
                    <a:solidFill>
                      <a:srgbClr val="F4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6B7280"/>
                          </a:solidFill>
                          <a:latin typeface="Arial"/>
                        </a:rPr>
                        <a:t>-</a:t>
                      </a:r>
                    </a:p>
                  </a:txBody>
                  <a:tcPr marL="109728" marR="73152" marT="36576" marB="36576" anchor="ctr">
                    <a:solidFill>
                      <a:srgbClr val="F4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4F46E5"/>
                          </a:solidFill>
                          <a:latin typeface="Arial"/>
                        </a:rPr>
                        <a:t>+ (yo'q)</a:t>
                      </a:r>
                    </a:p>
                  </a:txBody>
                  <a:tcPr marL="109728" marR="73152" marT="36576" marB="36576" anchor="ctr">
                    <a:solidFill>
                      <a:srgbClr val="EEF0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1F2430"/>
                          </a:solidFill>
                          <a:latin typeface="Arial"/>
                        </a:rPr>
                        <a:t>Moslashtiriladi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6B7280"/>
                          </a:solidFill>
                          <a:latin typeface="Arial"/>
                        </a:rPr>
                        <a:t>-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6B7280"/>
                          </a:solidFill>
                          <a:latin typeface="Arial"/>
                        </a:rPr>
                        <a:t>-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4F46E5"/>
                          </a:solidFill>
                          <a:latin typeface="Arial"/>
                        </a:rPr>
                        <a:t>+</a:t>
                      </a:r>
                    </a:p>
                  </a:txBody>
                  <a:tcPr marL="109728" marR="73152" marT="36576" marB="36576" anchor="ctr">
                    <a:solidFill>
                      <a:srgbClr val="EEF0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1F2430"/>
                          </a:solidFill>
                          <a:latin typeface="Arial"/>
                        </a:rPr>
                        <a:t>Avtomatik chorak bahosi</a:t>
                      </a:r>
                    </a:p>
                  </a:txBody>
                  <a:tcPr marL="109728" marR="73152" marT="36576" marB="36576" anchor="ctr">
                    <a:solidFill>
                      <a:srgbClr val="F4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6B7280"/>
                          </a:solidFill>
                          <a:latin typeface="Arial"/>
                        </a:rPr>
                        <a:t>-</a:t>
                      </a:r>
                    </a:p>
                  </a:txBody>
                  <a:tcPr marL="109728" marR="73152" marT="36576" marB="36576" anchor="ctr">
                    <a:solidFill>
                      <a:srgbClr val="F4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16A34A"/>
                          </a:solidFill>
                          <a:latin typeface="Arial"/>
                        </a:rPr>
                        <a:t>+</a:t>
                      </a:r>
                    </a:p>
                  </a:txBody>
                  <a:tcPr marL="109728" marR="73152" marT="36576" marB="36576" anchor="ctr">
                    <a:solidFill>
                      <a:srgbClr val="F4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4F46E5"/>
                          </a:solidFill>
                          <a:latin typeface="Arial"/>
                        </a:rPr>
                        <a:t>+</a:t>
                      </a:r>
                    </a:p>
                  </a:txBody>
                  <a:tcPr marL="109728" marR="73152" marT="36576" marB="36576" anchor="ctr">
                    <a:solidFill>
                      <a:srgbClr val="EEF0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502920"/>
            <a:ext cx="118872" cy="50292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384048"/>
            <a:ext cx="95097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F2430"/>
                </a:solidFill>
                <a:latin typeface="Arial"/>
              </a:rPr>
              <a:t>Kimga mos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411480"/>
            <a:ext cx="822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6B7280"/>
                </a:solidFill>
                <a:latin typeface="Arial"/>
              </a:rPr>
              <a:t>16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161288"/>
            <a:ext cx="10908792" cy="16459"/>
          </a:xfrm>
          <a:prstGeom prst="rect">
            <a:avLst/>
          </a:prstGeom>
          <a:solidFill>
            <a:srgbClr val="E0E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B7280"/>
                </a:solidFill>
                <a:latin typeface="Arial"/>
              </a:rPr>
              <a:t>Maktab CRM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6419088"/>
            <a:ext cx="12161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B7280"/>
                </a:solidFill>
                <a:latin typeface="Arial"/>
              </a:rPr>
              <a:t>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508760"/>
            <a:ext cx="10424160" cy="4663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000" b="1" i="0">
                <a:solidFill>
                  <a:srgbClr val="4F46E5"/>
                </a:solidFill>
                <a:latin typeface="Arial"/>
              </a:rPr>
              <a:t>•  </a:t>
            </a:r>
            <a:r>
              <a:rPr sz="2000" b="0" i="0">
                <a:solidFill>
                  <a:srgbClr val="1F2430"/>
                </a:solidFill>
                <a:latin typeface="Arial"/>
              </a:rPr>
              <a:t>Xususiy va davlat maktablari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000" b="1" i="0">
                <a:solidFill>
                  <a:srgbClr val="4F46E5"/>
                </a:solidFill>
                <a:latin typeface="Arial"/>
              </a:rPr>
              <a:t>•  </a:t>
            </a:r>
            <a:r>
              <a:rPr sz="2000" b="0" i="0">
                <a:solidFill>
                  <a:srgbClr val="1F2430"/>
                </a:solidFill>
                <a:latin typeface="Arial"/>
              </a:rPr>
              <a:t>O'quv markazlari va kurslar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000" b="1" i="0">
                <a:solidFill>
                  <a:srgbClr val="4F46E5"/>
                </a:solidFill>
                <a:latin typeface="Arial"/>
              </a:rPr>
              <a:t>•  </a:t>
            </a:r>
            <a:r>
              <a:rPr sz="2000" b="0" i="0">
                <a:solidFill>
                  <a:srgbClr val="1F2430"/>
                </a:solidFill>
                <a:latin typeface="Arial"/>
              </a:rPr>
              <a:t>Litsey va kollejlar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000" b="1" i="0">
                <a:solidFill>
                  <a:srgbClr val="4F46E5"/>
                </a:solidFill>
                <a:latin typeface="Arial"/>
              </a:rPr>
              <a:t>•  </a:t>
            </a:r>
            <a:r>
              <a:rPr sz="2000" b="0" i="0">
                <a:solidFill>
                  <a:srgbClr val="1F2430"/>
                </a:solidFill>
                <a:latin typeface="Arial"/>
              </a:rPr>
              <a:t>Har qanday ta'lim muassasasi (50+ o'quvchi)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502920"/>
            <a:ext cx="118872" cy="50292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384048"/>
            <a:ext cx="95097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F2430"/>
                </a:solidFill>
                <a:latin typeface="Arial"/>
              </a:rPr>
              <a:t>Taklif: paketlar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411480"/>
            <a:ext cx="822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6B7280"/>
                </a:solidFill>
                <a:latin typeface="Arial"/>
              </a:rPr>
              <a:t>17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161288"/>
            <a:ext cx="10908792" cy="16459"/>
          </a:xfrm>
          <a:prstGeom prst="rect">
            <a:avLst/>
          </a:prstGeom>
          <a:solidFill>
            <a:srgbClr val="E0E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B7280"/>
                </a:solidFill>
                <a:latin typeface="Arial"/>
              </a:rPr>
              <a:t>Maktab CRM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6419088"/>
            <a:ext cx="12161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B7280"/>
                </a:solidFill>
                <a:latin typeface="Arial"/>
              </a:rPr>
              <a:t>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508760"/>
            <a:ext cx="10424160" cy="4663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900" b="1" i="0">
                <a:solidFill>
                  <a:srgbClr val="4F46E5"/>
                </a:solidFill>
                <a:latin typeface="Arial"/>
              </a:rPr>
              <a:t>Asosiy paket — dastur + o'rnatish + o'qitish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900" b="1" i="0">
                <a:solidFill>
                  <a:srgbClr val="4F46E5"/>
                </a:solidFill>
                <a:latin typeface="Arial"/>
              </a:rPr>
              <a:t>Biznes paket — brending (logotip, nom) + sozlash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900" b="1" i="0">
                <a:solidFill>
                  <a:srgbClr val="4F46E5"/>
                </a:solidFill>
                <a:latin typeface="Arial"/>
              </a:rPr>
              <a:t>Premium — texnik xizmat, yangilanishlar, qo'shimcha modul</a:t>
            </a:r>
          </a:p>
          <a:p>
            <a:pPr algn="l">
              <a:spcBef>
                <a:spcPts val="1000"/>
              </a:spcBef>
              <a:spcAft>
                <a:spcPts val="1000"/>
              </a:spcAft>
            </a:pPr>
            <a:r>
              <a:rPr sz="1800" b="1" i="0">
                <a:solidFill>
                  <a:srgbClr val="16A34A"/>
                </a:solidFill>
                <a:latin typeface="Arial"/>
              </a:rPr>
              <a:t>+ </a:t>
            </a:r>
            <a:r>
              <a:rPr sz="1800" b="1" i="0">
                <a:solidFill>
                  <a:srgbClr val="1F2430"/>
                </a:solidFill>
                <a:latin typeface="Arial"/>
              </a:rPr>
              <a:t>Bir martalik to'lov, yashirin xarajat yo'q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502920"/>
            <a:ext cx="118872" cy="50292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384048"/>
            <a:ext cx="95097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F2430"/>
                </a:solidFill>
                <a:latin typeface="Arial"/>
              </a:rPr>
              <a:t>Joriy etish jarayoni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411480"/>
            <a:ext cx="822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6B7280"/>
                </a:solidFill>
                <a:latin typeface="Arial"/>
              </a:rPr>
              <a:t>18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161288"/>
            <a:ext cx="10908792" cy="16459"/>
          </a:xfrm>
          <a:prstGeom prst="rect">
            <a:avLst/>
          </a:prstGeom>
          <a:solidFill>
            <a:srgbClr val="E0E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B7280"/>
                </a:solidFill>
                <a:latin typeface="Arial"/>
              </a:rPr>
              <a:t>Maktab CRM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6419088"/>
            <a:ext cx="12161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B7280"/>
                </a:solidFill>
                <a:latin typeface="Arial"/>
              </a:rPr>
              <a:t>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508760"/>
            <a:ext cx="10424160" cy="4663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900" b="1" i="0">
                <a:solidFill>
                  <a:srgbClr val="4F46E5"/>
                </a:solidFill>
                <a:latin typeface="Arial"/>
              </a:rPr>
              <a:t>•  </a:t>
            </a:r>
            <a:r>
              <a:rPr sz="1900" b="0" i="0">
                <a:solidFill>
                  <a:srgbClr val="1F2430"/>
                </a:solidFill>
                <a:latin typeface="Arial"/>
              </a:rPr>
              <a:t>1. Kelishuv va sozlamalar (1 kun)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900" b="1" i="0">
                <a:solidFill>
                  <a:srgbClr val="4F46E5"/>
                </a:solidFill>
                <a:latin typeface="Arial"/>
              </a:rPr>
              <a:t>•  </a:t>
            </a:r>
            <a:r>
              <a:rPr sz="1900" b="0" i="0">
                <a:solidFill>
                  <a:srgbClr val="1F2430"/>
                </a:solidFill>
                <a:latin typeface="Arial"/>
              </a:rPr>
              <a:t>2. Fanlar, sinflar, o'qituvchilarni kiritish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900" b="1" i="0">
                <a:solidFill>
                  <a:srgbClr val="4F46E5"/>
                </a:solidFill>
                <a:latin typeface="Arial"/>
              </a:rPr>
              <a:t>•  </a:t>
            </a:r>
            <a:r>
              <a:rPr sz="1900" b="0" i="0">
                <a:solidFill>
                  <a:srgbClr val="1F2430"/>
                </a:solidFill>
                <a:latin typeface="Arial"/>
              </a:rPr>
              <a:t>3. Admin va o'qituvchilarni o'qitish (1 soat)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900" b="1" i="0">
                <a:solidFill>
                  <a:srgbClr val="4F46E5"/>
                </a:solidFill>
                <a:latin typeface="Arial"/>
              </a:rPr>
              <a:t>•  </a:t>
            </a:r>
            <a:r>
              <a:rPr sz="1900" b="0" i="0">
                <a:solidFill>
                  <a:srgbClr val="1F2430"/>
                </a:solidFill>
                <a:latin typeface="Arial"/>
              </a:rPr>
              <a:t>4. Ishga tushirish va qo'llab-quvvatlash</a:t>
            </a:r>
          </a:p>
          <a:p>
            <a:pPr algn="l">
              <a:spcBef>
                <a:spcPts val="800"/>
              </a:spcBef>
              <a:spcAft>
                <a:spcPts val="1000"/>
              </a:spcAft>
            </a:pPr>
            <a:r>
              <a:rPr sz="1900" b="1" i="0">
                <a:solidFill>
                  <a:srgbClr val="16A34A"/>
                </a:solidFill>
                <a:latin typeface="Arial"/>
              </a:rPr>
              <a:t>+ </a:t>
            </a:r>
            <a:r>
              <a:rPr sz="1900" b="1" i="0">
                <a:solidFill>
                  <a:srgbClr val="1F2430"/>
                </a:solidFill>
                <a:latin typeface="Arial"/>
              </a:rPr>
              <a:t>Jami: 1-2 kunda to'liq ishga tushadi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502920"/>
            <a:ext cx="118872" cy="50292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384048"/>
            <a:ext cx="95097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F2430"/>
                </a:solidFill>
                <a:latin typeface="Arial"/>
              </a:rPr>
              <a:t>Texnologiya va ishonchlilik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411480"/>
            <a:ext cx="822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6B7280"/>
                </a:solidFill>
                <a:latin typeface="Arial"/>
              </a:rPr>
              <a:t>19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161288"/>
            <a:ext cx="10908792" cy="16459"/>
          </a:xfrm>
          <a:prstGeom prst="rect">
            <a:avLst/>
          </a:prstGeom>
          <a:solidFill>
            <a:srgbClr val="E0E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B7280"/>
                </a:solidFill>
                <a:latin typeface="Arial"/>
              </a:rPr>
              <a:t>Maktab CRM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6419088"/>
            <a:ext cx="12161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B7280"/>
                </a:solidFill>
                <a:latin typeface="Arial"/>
              </a:rPr>
              <a:t>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508760"/>
            <a:ext cx="10424160" cy="4663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900" b="1" i="0">
                <a:solidFill>
                  <a:srgbClr val="4F46E5"/>
                </a:solidFill>
                <a:latin typeface="Arial"/>
              </a:rPr>
              <a:t>•  </a:t>
            </a:r>
            <a:r>
              <a:rPr sz="1900" b="0" i="0">
                <a:solidFill>
                  <a:srgbClr val="1F2430"/>
                </a:solidFill>
                <a:latin typeface="Arial"/>
              </a:rPr>
              <a:t>Zamonaviy va barqaror platforma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900" b="1" i="0">
                <a:solidFill>
                  <a:srgbClr val="4F46E5"/>
                </a:solidFill>
                <a:latin typeface="Arial"/>
              </a:rPr>
              <a:t>•  </a:t>
            </a:r>
            <a:r>
              <a:rPr sz="1900" b="0" i="0">
                <a:solidFill>
                  <a:srgbClr val="1F2430"/>
                </a:solidFill>
                <a:latin typeface="Arial"/>
              </a:rPr>
              <a:t>Rolga asoslangan ruxsatlar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900" b="1" i="0">
                <a:solidFill>
                  <a:srgbClr val="4F46E5"/>
                </a:solidFill>
                <a:latin typeface="Arial"/>
              </a:rPr>
              <a:t>•  </a:t>
            </a:r>
            <a:r>
              <a:rPr sz="1900" b="0" i="0">
                <a:solidFill>
                  <a:srgbClr val="1F2430"/>
                </a:solidFill>
                <a:latin typeface="Arial"/>
              </a:rPr>
              <a:t>Parollar shifrlangan holda saqlanadi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900" b="1" i="0">
                <a:solidFill>
                  <a:srgbClr val="4F46E5"/>
                </a:solidFill>
                <a:latin typeface="Arial"/>
              </a:rPr>
              <a:t>•  </a:t>
            </a:r>
            <a:r>
              <a:rPr sz="1900" b="0" i="0">
                <a:solidFill>
                  <a:srgbClr val="1F2430"/>
                </a:solidFill>
                <a:latin typeface="Arial"/>
              </a:rPr>
              <a:t>Avtomatik zaxira nusxa imkoniyati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900" b="1" i="0">
                <a:solidFill>
                  <a:srgbClr val="4F46E5"/>
                </a:solidFill>
                <a:latin typeface="Arial"/>
              </a:rPr>
              <a:t>•  </a:t>
            </a:r>
            <a:r>
              <a:rPr sz="1900" b="0" i="0">
                <a:solidFill>
                  <a:srgbClr val="1F2430"/>
                </a:solidFill>
                <a:latin typeface="Arial"/>
              </a:rPr>
              <a:t>Internet bo'lmasa ham mahalliy tarmoqda ishlaydi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828800"/>
            <a:ext cx="100584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Arial"/>
              </a:rPr>
              <a:t>Maktabingizni bugun raqamlashtiring!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3108960"/>
            <a:ext cx="100584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C3C9DF"/>
                </a:solidFill>
                <a:latin typeface="Arial"/>
              </a:rPr>
              <a:t>Bepul demo ko'rsatish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9AA2C0"/>
                </a:solidFill>
                <a:latin typeface="Arial"/>
              </a:rPr>
              <a:t>Sinov muddati: kelishiladi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457200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Arial"/>
              </a:rPr>
              <a:t>Telefon: ____________     Telegram: ____________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Arial"/>
              </a:rPr>
              <a:t>Email: ____________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Maktab CRM — sotuv taqdimoti</dc:title>
  <dc:subject/>
  <dc:creator>Maktab CRM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